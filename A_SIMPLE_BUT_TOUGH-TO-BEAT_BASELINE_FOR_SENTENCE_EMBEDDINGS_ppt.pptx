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Baskerville Display PT" charset="0"/>
      <p:regular r:id="rId16"/>
    </p:embeddedFont>
    <p:embeddedFont>
      <p:font typeface="Inter" charset="0"/>
      <p:regular r:id="rId17"/>
    </p:embeddedFont>
    <p:embeddedFont>
      <p:font typeface="Calibri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9" d="100"/>
          <a:sy n="59" d="100"/>
        </p:scale>
        <p:origin x="-418" y="-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0414" y="1460221"/>
            <a:ext cx="15367171" cy="301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89"/>
              </a:lnSpc>
            </a:pPr>
            <a:r>
              <a:rPr lang="en-US" sz="5778" spc="1155">
                <a:solidFill>
                  <a:srgbClr val="504C44"/>
                </a:solidFill>
                <a:latin typeface="Baskerville Display PT"/>
                <a:ea typeface="Baskerville Display PT"/>
                <a:cs typeface="Baskerville Display PT"/>
                <a:sym typeface="Baskerville Display PT"/>
              </a:rPr>
              <a:t>A SIMPLE BUT TOUGH-TO-BEAT BASELINE FOR SENTENCE EMBEDDINGS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88288" y="5452006"/>
            <a:ext cx="13711425" cy="416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6"/>
              </a:lnSpc>
            </a:pPr>
            <a:r>
              <a:rPr lang="en-US" sz="2361" spc="472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PRESENTED BY - YASHWANTH, PRAHAS, HARSHITH, YASHASWINI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82366" y="3644386"/>
            <a:ext cx="12262667" cy="154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The paper introduces a simple yet powerful unsupervised method for generating sentence embeddings.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 Instead of relying on complex neural networks or large labeled datasets, the authors propose: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82366" y="5284947"/>
            <a:ext cx="9629941" cy="154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Computing a weighted average of pre-trained word embeddings.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Removing the first principal component (PCA/SVD) from the resulting sentence vectors.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129123" y="6643847"/>
            <a:ext cx="11360714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This approach, though extremely simple, achieves performance comparable to — and often better than — supervised models such as RNNs and LSTMs on several semantic textual similarity tasks.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129123" y="8133217"/>
            <a:ext cx="8776743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Key Concept: Simplicity, when combined with theoretical grounding, can outperform complex deep models.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21981" y="2010650"/>
            <a:ext cx="9244012" cy="728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spc="859">
                <a:solidFill>
                  <a:srgbClr val="504C44"/>
                </a:solidFill>
                <a:latin typeface="Baskerville Display PT"/>
                <a:ea typeface="Baskerville Display PT"/>
                <a:cs typeface="Baskerville Display PT"/>
                <a:sym typeface="Baskerville Display PT"/>
              </a:rPr>
              <a:t>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08445" y="2316543"/>
            <a:ext cx="13671109" cy="753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Background: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Word embeddings (Word2Vec, GloVe) represent word meanings effectively.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The challenge is to extend these representations to entire sentences that capture semantic meaning.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Why Do We Need Them?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Traditional word embeddings (like Word2Vec or GloVe) only capture the meaning of individual words, not whole sentences.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To understand full sentences, we need to combine word meanings in a way that captures context, importance, and sentence structure.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Objective of the paper: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To develop an unsupervised, theoretically justified, and computationally simple baseline that can rival sophisticated neural models.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500543" y="962025"/>
            <a:ext cx="5688230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799">
                <a:solidFill>
                  <a:srgbClr val="504C44"/>
                </a:solidFill>
                <a:latin typeface="Baskerville Display PT"/>
                <a:ea typeface="Baskerville Display PT"/>
                <a:cs typeface="Baskerville Display PT"/>
                <a:sym typeface="Baskerville Display PT"/>
              </a:rPr>
              <a:t>INTRODUCTION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66409" y="1191224"/>
            <a:ext cx="11908619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799">
                <a:solidFill>
                  <a:srgbClr val="504C44"/>
                </a:solidFill>
                <a:latin typeface="Baskerville Display PT"/>
                <a:ea typeface="Baskerville Display PT"/>
                <a:cs typeface="Baskerville Display PT"/>
                <a:sym typeface="Baskerville Display PT"/>
              </a:rPr>
              <a:t>PROBLEM AND PREVIOUS METHODS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40210" y="2080913"/>
            <a:ext cx="14280502" cy="711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endParaRPr/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RNN: Read each word step by step.   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Drawback: Accurate but slow, hard to train, needs labeled data.  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             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Skip-Thought (Kiros et al., 2015)  :  Predicts the next sentence from the current one (like Word2Vec for sentences).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Drawback: Very large model, takes weeks to train.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*Doc2Vec* (Le &amp; Mikolov, 2014) : Learns a unique vector for each sentence or document.  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Drawback : Needs training on a specific corpus; not easily generalizable. 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These models are computationally heavy ,supervised and often dont generalize well 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Gaps: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Even simple averaging of word vectors performs surprisingly well.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This motivates investigating why and how such simplicity works — and improving it systematically.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01292" y="1472217"/>
            <a:ext cx="15939635" cy="8113026"/>
          </a:xfrm>
          <a:custGeom>
            <a:avLst/>
            <a:gdLst/>
            <a:ahLst/>
            <a:cxnLst/>
            <a:rect l="l" t="t" r="r" b="b"/>
            <a:pathLst>
              <a:path w="15939635" h="8113026">
                <a:moveTo>
                  <a:pt x="0" y="0"/>
                </a:moveTo>
                <a:lnTo>
                  <a:pt x="15939635" y="0"/>
                </a:lnTo>
                <a:lnTo>
                  <a:pt x="15939635" y="8113026"/>
                </a:lnTo>
                <a:lnTo>
                  <a:pt x="0" y="8113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155" b="-41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206749" y="500169"/>
            <a:ext cx="3316167" cy="830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3"/>
              </a:lnSpc>
            </a:pPr>
            <a:r>
              <a:rPr lang="en-US" sz="4809" spc="961">
                <a:solidFill>
                  <a:srgbClr val="504C44"/>
                </a:solidFill>
                <a:latin typeface="Baskerville Display PT"/>
                <a:ea typeface="Baskerville Display PT"/>
                <a:cs typeface="Baskerville Display PT"/>
                <a:sym typeface="Baskerville Display PT"/>
              </a:rPr>
              <a:t>THEORY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720661"/>
            <a:ext cx="16674961" cy="9087854"/>
          </a:xfrm>
          <a:custGeom>
            <a:avLst/>
            <a:gdLst/>
            <a:ahLst/>
            <a:cxnLst/>
            <a:rect l="l" t="t" r="r" b="b"/>
            <a:pathLst>
              <a:path w="16674961" h="9087854">
                <a:moveTo>
                  <a:pt x="0" y="0"/>
                </a:moveTo>
                <a:lnTo>
                  <a:pt x="16674961" y="0"/>
                </a:lnTo>
                <a:lnTo>
                  <a:pt x="16674961" y="9087854"/>
                </a:lnTo>
                <a:lnTo>
                  <a:pt x="0" y="9087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41253" y="414282"/>
            <a:ext cx="13536910" cy="9695812"/>
          </a:xfrm>
          <a:custGeom>
            <a:avLst/>
            <a:gdLst/>
            <a:ahLst/>
            <a:cxnLst/>
            <a:rect l="l" t="t" r="r" b="b"/>
            <a:pathLst>
              <a:path w="13536910" h="9695812">
                <a:moveTo>
                  <a:pt x="0" y="0"/>
                </a:moveTo>
                <a:lnTo>
                  <a:pt x="13536910" y="0"/>
                </a:lnTo>
                <a:lnTo>
                  <a:pt x="13536910" y="9695812"/>
                </a:lnTo>
                <a:lnTo>
                  <a:pt x="0" y="9695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26543" y="297387"/>
            <a:ext cx="7224930" cy="5978209"/>
            <a:chOff x="0" y="0"/>
            <a:chExt cx="9633241" cy="797094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054" r="2054"/>
            <a:stretch>
              <a:fillRect/>
            </a:stretch>
          </p:blipFill>
          <p:spPr>
            <a:xfrm>
              <a:off x="0" y="0"/>
              <a:ext cx="9633241" cy="7970945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1321225" y="6931277"/>
            <a:ext cx="16230600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The graph demonstrates that Word2Vec’s subsampling probabilities and Arora et al.’s theoretical weighting scheme behave similarly — both effectively downweight frequent, less informative words and emphasize rare, meaningful words when learning embeddings.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50648" y="1610521"/>
            <a:ext cx="4786704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799">
                <a:solidFill>
                  <a:srgbClr val="504C44"/>
                </a:solidFill>
                <a:latin typeface="Baskerville Display PT"/>
                <a:ea typeface="Baskerville Display PT"/>
                <a:cs typeface="Baskerville Display PT"/>
                <a:sym typeface="Baskerville Display PT"/>
              </a:rPr>
              <a:t>EXPERIMENTS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27914" y="2800350"/>
            <a:ext cx="15632171" cy="645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Datasets Used:</a:t>
            </a:r>
          </a:p>
          <a:p>
            <a:pPr marL="647700" lvl="1" indent="-323850" algn="l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22 Semantic Textual Similarity (STS) datasets (SemEval 2012–2015).</a:t>
            </a:r>
          </a:p>
          <a:p>
            <a:pPr marL="647700" lvl="1" indent="-323850" algn="l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SICK 2014 (Semantic relatedness and entailment).</a:t>
            </a:r>
          </a:p>
          <a:p>
            <a:pPr marL="647700" lvl="1" indent="-323850" algn="l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Twitter Semantic Similarity dataset (2015).</a:t>
            </a:r>
          </a:p>
          <a:p>
            <a:pPr algn="l">
              <a:lnSpc>
                <a:spcPts val="5700"/>
              </a:lnSpc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Compared Methods:</a:t>
            </a:r>
          </a:p>
          <a:p>
            <a:pPr marL="647700" lvl="1" indent="-323850" algn="l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Unsupervised: avg-GloVe, tfidf-GloVe, Skip-Thought.</a:t>
            </a:r>
          </a:p>
          <a:p>
            <a:pPr marL="647700" lvl="1" indent="-323850" algn="l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Semi-supervised: avg-PSL (trained on PPDB).</a:t>
            </a:r>
          </a:p>
          <a:p>
            <a:pPr marL="647700" lvl="1" indent="-323850" algn="l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Supervised: RNN, LSTM, DAN, and PP-proj models.</a:t>
            </a:r>
          </a:p>
          <a:p>
            <a:pPr algn="l">
              <a:lnSpc>
                <a:spcPts val="5700"/>
              </a:lnSpc>
            </a:pPr>
            <a:endParaRPr lang="en-US" sz="3000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4257" y="1132665"/>
            <a:ext cx="6770986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799">
                <a:solidFill>
                  <a:srgbClr val="504C44"/>
                </a:solidFill>
                <a:latin typeface="Baskerville Display PT"/>
                <a:ea typeface="Baskerville Display PT"/>
                <a:cs typeface="Baskerville Display PT"/>
                <a:sym typeface="Baskerville Display PT"/>
              </a:rPr>
              <a:t>RESULTS 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00958" y="2637668"/>
            <a:ext cx="16237717" cy="646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GloVe+WR</a:t>
            </a:r>
            <a:r>
              <a:rPr lang="en-US" sz="3000" dirty="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 (Weighted + PCA Removal):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Improves by 10–30% over simple averaging.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Outperforms RNNs and LSTMs on many STS tasks.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PSL+WR: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Best results overall (semi-supervised setting).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Robust to: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Worked well on different datasets (Wikipedia, Blogs, Common Crawl).</a:t>
            </a:r>
          </a:p>
          <a:p>
            <a:pPr marL="1295400" lvl="2" indent="-431800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Performance stayed stable for the parameter a in the range </a:t>
            </a:r>
            <a:r>
              <a:rPr lang="en-US" sz="3200" dirty="0"/>
              <a:t>10</a:t>
            </a:r>
            <a:r>
              <a:rPr lang="en-US" sz="3200" baseline="30000" dirty="0"/>
              <a:t>-3</a:t>
            </a:r>
            <a:r>
              <a:rPr lang="en-US" sz="3200" dirty="0"/>
              <a:t> to </a:t>
            </a:r>
            <a:r>
              <a:rPr lang="en-US" sz="3200" dirty="0" smtClean="0"/>
              <a:t>10</a:t>
            </a:r>
            <a:r>
              <a:rPr lang="en-US" sz="3200" baseline="30000" dirty="0" smtClean="0"/>
              <a:t>-4</a:t>
            </a:r>
            <a:r>
              <a:rPr lang="en-US" sz="3000" dirty="0" smtClean="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en-US" sz="3000" dirty="0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Observation: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The method is simple, robust, and transferable across domains.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7473" y="3469818"/>
            <a:ext cx="15964689" cy="5978209"/>
            <a:chOff x="0" y="0"/>
            <a:chExt cx="21286251" cy="797094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462" b="462"/>
            <a:stretch>
              <a:fillRect/>
            </a:stretch>
          </p:blipFill>
          <p:spPr>
            <a:xfrm>
              <a:off x="0" y="0"/>
              <a:ext cx="21286251" cy="7970945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2748831" y="962025"/>
            <a:ext cx="13816301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spc="679">
                <a:solidFill>
                  <a:srgbClr val="504C44"/>
                </a:solidFill>
                <a:latin typeface="Baskerville Display PT"/>
                <a:ea typeface="Baskerville Display PT"/>
                <a:cs typeface="Baskerville Display PT"/>
                <a:sym typeface="Baskerville Display PT"/>
              </a:rPr>
              <a:t>FIGURE 2: EFFECT OF WEIGHTING SCHEME IN OUR METHOD ON THE AVERAGE PERFORMANCE ON STS 2012 TASKS. BEST VIEWED IN COLOR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34748" y="962025"/>
            <a:ext cx="4509719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799">
                <a:solidFill>
                  <a:srgbClr val="504C44"/>
                </a:solidFill>
                <a:latin typeface="Baskerville Display PT"/>
                <a:ea typeface="Baskerville Display PT"/>
                <a:cs typeface="Baskerville Display PT"/>
                <a:sym typeface="Baskerville Display PT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08489" y="1928295"/>
            <a:ext cx="15071023" cy="798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•SIF (Smooth Inverse Frequency) is a simple and unsupervised method for generating sentence embeddings.</a:t>
            </a:r>
          </a:p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•Combines a weighted average of word vectors with common component removal (PCA).</a:t>
            </a:r>
          </a:p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•Performs better than unweighted averages and even beats or matches supervised RNN/LSTM models.</a:t>
            </a:r>
          </a:p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•Works exceptionally well in unsupervised settings, and performs even better when used with semi-supervised word embeddings (PSL + WR).</a:t>
            </a:r>
          </a:p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•Shuffled-word experiment:</a:t>
            </a:r>
          </a:p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        •SIF ignores word order but still performance well.</a:t>
            </a:r>
          </a:p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        •Shows that semantic meaning matters more in NLP tasks.</a:t>
            </a:r>
          </a:p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•Even a simple unsupervised method can match or outperform deep, complex neural models.</a:t>
            </a:r>
          </a:p>
          <a:p>
            <a:pPr algn="l">
              <a:lnSpc>
                <a:spcPts val="4500"/>
              </a:lnSpc>
            </a:pPr>
            <a:endParaRPr lang="en-US" sz="3000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00552" y="962025"/>
            <a:ext cx="6770986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799">
                <a:solidFill>
                  <a:srgbClr val="504C44"/>
                </a:solidFill>
                <a:latin typeface="Baskerville Display PT"/>
                <a:ea typeface="Baskerville Display PT"/>
                <a:cs typeface="Baskerville Display PT"/>
                <a:sym typeface="Baskerville Display PT"/>
              </a:rPr>
              <a:t>IMPACT SINCE 2017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82853" y="3002674"/>
            <a:ext cx="14922295" cy="450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•Became a benchmark baseline for all later sentence embedding methods.</a:t>
            </a:r>
          </a:p>
          <a:p>
            <a:pPr algn="l">
              <a:lnSpc>
                <a:spcPts val="6000"/>
              </a:lnSpc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•Inspired newer models like Universal Sentence Encoder (2018) and Sentence-BERT (2019).</a:t>
            </a:r>
          </a:p>
          <a:p>
            <a:pPr algn="l">
              <a:lnSpc>
                <a:spcPts val="6000"/>
              </a:lnSpc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•SIF remains widely used for fast, unsupervised text similarity.</a:t>
            </a:r>
          </a:p>
          <a:p>
            <a:pPr algn="l">
              <a:lnSpc>
                <a:spcPts val="6000"/>
              </a:lnSpc>
            </a:pPr>
            <a:r>
              <a:rPr lang="en-US" sz="3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•Still applied in retrieval, clustering, and domain adaptation tasks today.</a:t>
            </a:r>
          </a:p>
          <a:p>
            <a:pPr algn="l">
              <a:lnSpc>
                <a:spcPts val="6000"/>
              </a:lnSpc>
            </a:pPr>
            <a:endParaRPr lang="en-US" sz="3000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07633" y="1028700"/>
            <a:ext cx="14072734" cy="8229600"/>
            <a:chOff x="0" y="0"/>
            <a:chExt cx="370639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06399" cy="2167467"/>
            </a:xfrm>
            <a:custGeom>
              <a:avLst/>
              <a:gdLst/>
              <a:ahLst/>
              <a:cxnLst/>
              <a:rect l="l" t="t" r="r" b="b"/>
              <a:pathLst>
                <a:path w="3706399" h="2167467">
                  <a:moveTo>
                    <a:pt x="0" y="0"/>
                  </a:moveTo>
                  <a:lnTo>
                    <a:pt x="3706399" y="0"/>
                  </a:lnTo>
                  <a:lnTo>
                    <a:pt x="3706399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1EDE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70639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69655" y="4114800"/>
            <a:ext cx="674869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1200">
                <a:solidFill>
                  <a:srgbClr val="504C44"/>
                </a:solidFill>
                <a:latin typeface="Baskerville Display PT"/>
                <a:ea typeface="Baskerville Display PT"/>
                <a:cs typeface="Baskerville Display PT"/>
                <a:sym typeface="Baskerville Display PT"/>
              </a:rPr>
              <a:t>VIELEN DANK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</Words>
  <Application>Microsoft Office PowerPoint</Application>
  <PresentationFormat>Custom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Baskerville Display PT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Brief Deck</dc:title>
  <cp:lastModifiedBy>admin</cp:lastModifiedBy>
  <cp:revision>2</cp:revision>
  <dcterms:created xsi:type="dcterms:W3CDTF">2006-08-16T00:00:00Z</dcterms:created>
  <dcterms:modified xsi:type="dcterms:W3CDTF">2025-10-19T22:11:33Z</dcterms:modified>
  <dc:identifier>DAG2IPTDeto</dc:identifier>
</cp:coreProperties>
</file>